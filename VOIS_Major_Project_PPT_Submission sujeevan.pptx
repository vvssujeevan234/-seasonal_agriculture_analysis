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33"/>
  </p:notesMasterIdLst>
  <p:handoutMasterIdLst>
    <p:handoutMasterId r:id="rId34"/>
  </p:handoutMasterIdLst>
  <p:sldIdLst>
    <p:sldId id="338" r:id="rId5"/>
    <p:sldId id="327" r:id="rId6"/>
    <p:sldId id="315" r:id="rId7"/>
    <p:sldId id="329" r:id="rId8"/>
    <p:sldId id="302" r:id="rId9"/>
    <p:sldId id="361" r:id="rId10"/>
    <p:sldId id="349" r:id="rId11"/>
    <p:sldId id="339" r:id="rId12"/>
    <p:sldId id="340" r:id="rId13"/>
    <p:sldId id="347" r:id="rId14"/>
    <p:sldId id="352" r:id="rId15"/>
    <p:sldId id="348" r:id="rId16"/>
    <p:sldId id="353" r:id="rId17"/>
    <p:sldId id="351" r:id="rId18"/>
    <p:sldId id="354" r:id="rId19"/>
    <p:sldId id="355" r:id="rId20"/>
    <p:sldId id="356" r:id="rId21"/>
    <p:sldId id="346" r:id="rId22"/>
    <p:sldId id="357" r:id="rId23"/>
    <p:sldId id="358" r:id="rId24"/>
    <p:sldId id="359" r:id="rId25"/>
    <p:sldId id="360" r:id="rId26"/>
    <p:sldId id="341" r:id="rId27"/>
    <p:sldId id="362" r:id="rId28"/>
    <p:sldId id="363" r:id="rId29"/>
    <p:sldId id="342" r:id="rId30"/>
    <p:sldId id="343" r:id="rId31"/>
    <p:sldId id="30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6" d="100"/>
          <a:sy n="66" d="100"/>
        </p:scale>
        <p:origin x="588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vssujeevan234/-Seasonal_Agriculture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2019" y="3603370"/>
            <a:ext cx="10329691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400" b="0" dirty="0">
                <a:solidFill>
                  <a:schemeClr val="tx1"/>
                </a:solidFill>
              </a:rPr>
              <a:t>Student Name: </a:t>
            </a:r>
            <a:r>
              <a:rPr lang="en-US" sz="2400" dirty="0">
                <a:solidFill>
                  <a:schemeClr val="tx1"/>
                </a:solidFill>
              </a:rPr>
              <a:t>Velampalli Venkata Sai Sujeevan </a:t>
            </a:r>
            <a:endParaRPr lang="en-IN" sz="2400" dirty="0">
              <a:solidFill>
                <a:schemeClr val="tx1"/>
              </a:solidFill>
            </a:endParaRPr>
          </a:p>
          <a:p>
            <a:pPr algn="just"/>
            <a:r>
              <a:rPr lang="en-US" sz="2400" b="0" dirty="0">
                <a:solidFill>
                  <a:schemeClr val="tx1"/>
                </a:solidFill>
              </a:rPr>
              <a:t>College Name- </a:t>
            </a:r>
            <a:r>
              <a:rPr lang="en-US" sz="2400" dirty="0">
                <a:solidFill>
                  <a:schemeClr val="tx1"/>
                </a:solidFill>
              </a:rPr>
              <a:t>Geethanjali Institute of Science and Technology</a:t>
            </a:r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25" y="2741873"/>
            <a:ext cx="10884889" cy="861497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US" sz="32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322978" y="2813457"/>
            <a:ext cx="3273249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584402" y="6491376"/>
            <a:ext cx="2117948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913764" y="4595925"/>
            <a:ext cx="7140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AICTE STU ID : </a:t>
            </a:r>
            <a:r>
              <a:rPr lang="en-US" sz="2400" dirty="0"/>
              <a:t>STU658046cf7f3e11702905551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2219134"/>
            <a:ext cx="7326959" cy="3264409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sz="2800" dirty="0"/>
              <a:t>Agricultural performance varies across different seasons. </a:t>
            </a:r>
          </a:p>
          <a:p>
            <a:r>
              <a:rPr lang="en-US" sz="2800" dirty="0"/>
              <a:t>Environmental conditions, resources and farming practices influence crop performance. </a:t>
            </a:r>
          </a:p>
          <a:p>
            <a:r>
              <a:rPr lang="en-US" sz="2800" dirty="0"/>
              <a:t>Raw agricultural data does not clearly reveal these seasonal differences. </a:t>
            </a:r>
          </a:p>
          <a:p>
            <a:r>
              <a:rPr lang="en-US" sz="2800" dirty="0"/>
              <a:t>This project analyzes the dataset to identify </a:t>
            </a:r>
            <a:r>
              <a:rPr lang="en-US" sz="2800" b="1" dirty="0"/>
              <a:t>patterns, trends, relationships and variations</a:t>
            </a:r>
            <a:r>
              <a:rPr lang="en-US" sz="2800" dirty="0"/>
              <a:t> across seasons. </a:t>
            </a:r>
          </a:p>
          <a:p>
            <a:r>
              <a:rPr lang="en-US" sz="2800" dirty="0"/>
              <a:t>The findings can support </a:t>
            </a:r>
            <a:r>
              <a:rPr lang="en-US" sz="2800" b="1" dirty="0"/>
              <a:t>evidence-based agricultural planning</a:t>
            </a:r>
            <a:r>
              <a:rPr lang="en-US" sz="280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B0E3B27-C317-C936-CC59-B0A63523663F}"/>
              </a:ext>
            </a:extLst>
          </p:cNvPr>
          <p:cNvSpPr txBox="1"/>
          <p:nvPr/>
        </p:nvSpPr>
        <p:spPr>
          <a:xfrm>
            <a:off x="554804" y="2270589"/>
            <a:ext cx="9010436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Analyze agricultural data from different </a:t>
            </a:r>
            <a:r>
              <a:rPr lang="en-US" sz="2000" b="1" dirty="0"/>
              <a:t>seasons, states, districts and crops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Perform data cleaning and exploratory data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Compare </a:t>
            </a:r>
            <a:r>
              <a:rPr lang="en-US" sz="2000" b="1" dirty="0"/>
              <a:t>yield, production and profit</a:t>
            </a:r>
            <a:r>
              <a:rPr lang="en-US" sz="2000" dirty="0"/>
              <a:t> across seasons.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Study rainfall, temperature, soil moisture and other environmental factors.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Analyze water, fertilizer and pesticide usage.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Perform </a:t>
            </a:r>
            <a:r>
              <a:rPr lang="en-US" sz="2000" b="1" dirty="0"/>
              <a:t>univariate, bivariate and multivariate analysis</a:t>
            </a:r>
            <a:r>
              <a:rPr lang="en-US" sz="20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Detect outliers and identify important correlations.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Generate data-driven agricultural insights.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C49E917-F34A-A392-C9F5-8B82872E2CF6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0724" y="1908722"/>
            <a:ext cx="906027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Farmers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Understand seasonal crop performance.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Planners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Improve seasonal planning.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Researchers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Study crop and environmental patterns.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Departments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Support agricultural planning and policies.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Agribusiness Companies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Analyze production and profitability.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Analysts &amp; Students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Perform agricultural data analysis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08414" y="1432559"/>
            <a:ext cx="7409906" cy="4977901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Programming Language</a:t>
            </a:r>
            <a:endParaRPr lang="en-US" sz="1800" dirty="0"/>
          </a:p>
          <a:p>
            <a:r>
              <a:rPr lang="en-US" sz="1800" dirty="0"/>
              <a:t>      Python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Libraries</a:t>
            </a:r>
            <a:endParaRPr lang="en-US" sz="1800" dirty="0"/>
          </a:p>
          <a:p>
            <a:r>
              <a:rPr lang="en-US" sz="1800" b="1" dirty="0"/>
              <a:t>      Pandas</a:t>
            </a:r>
            <a:r>
              <a:rPr lang="en-US" sz="1800" dirty="0"/>
              <a:t> – Data cleaning and analysis </a:t>
            </a:r>
          </a:p>
          <a:p>
            <a:r>
              <a:rPr lang="en-US" sz="1800" b="1" dirty="0"/>
              <a:t>      NumPy</a:t>
            </a:r>
            <a:r>
              <a:rPr lang="en-US" sz="1800" dirty="0"/>
              <a:t> – Numerical operations </a:t>
            </a:r>
          </a:p>
          <a:p>
            <a:r>
              <a:rPr lang="en-US" sz="1800" b="1" dirty="0"/>
              <a:t>      Matplotlib</a:t>
            </a:r>
            <a:r>
              <a:rPr lang="en-US" sz="1800" dirty="0"/>
              <a:t> – Basic charts and graphs </a:t>
            </a:r>
          </a:p>
          <a:p>
            <a:r>
              <a:rPr lang="en-US" sz="1800" b="1" dirty="0"/>
              <a:t>      Seaborn</a:t>
            </a:r>
            <a:r>
              <a:rPr lang="en-US" sz="1800" dirty="0"/>
              <a:t> – Statistical visualizations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b="1" dirty="0"/>
              <a:t>Platform</a:t>
            </a:r>
            <a:endParaRPr lang="en-US" sz="1800" dirty="0"/>
          </a:p>
          <a:p>
            <a:r>
              <a:rPr lang="en-US" sz="1800" b="1" dirty="0"/>
              <a:t>      Jupyter Notebook</a:t>
            </a:r>
            <a:r>
              <a:rPr lang="en-US" sz="1800" dirty="0"/>
              <a:t> – Analysis, visualization and documentation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18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33D7F-C95F-0069-4BDA-0CDCF74B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F0A305-3759-9DEF-0F34-5DD6B624B9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0EF1316-3A84-D5A1-499F-4C560356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750086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Irrigation Method Distribution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05F909F-0A6B-9C36-4A18-44977B3EBFC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A099596-ED13-6396-4047-8549033E878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59E1DCC-C7DD-246E-07E9-4161DDC273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5732056"/>
            <a:ext cx="7216953" cy="932904"/>
          </a:xfrm>
        </p:spPr>
        <p:txBody>
          <a:bodyPr>
            <a:normAutofit/>
          </a:bodyPr>
          <a:lstStyle/>
          <a:p>
            <a:r>
              <a:rPr lang="en-US" dirty="0"/>
              <a:t>The pie chart shows the distribution of irrigation methods used across the agricultural dataset.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6FB491-5383-AD79-30B7-497C8F2D9C25}"/>
              </a:ext>
            </a:extLst>
          </p:cNvPr>
          <p:cNvSpPr/>
          <p:nvPr/>
        </p:nvSpPr>
        <p:spPr>
          <a:xfrm>
            <a:off x="825356" y="1668781"/>
            <a:ext cx="9641257" cy="33234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7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88E5A-0FB1-31B5-B95C-1600AF36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549452-CC55-51E1-565B-D83AD3A40A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FC98F09-DAF7-041C-40E1-4A702043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72300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Season Distribution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3884639-625F-14DD-374D-DD66D935A46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049049E-B70A-B9BB-9B93-D4023271C84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0B47D-6B7E-30B6-59D0-CC96281E1AF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449830"/>
            <a:ext cx="8026401" cy="1408170"/>
          </a:xfrm>
        </p:spPr>
        <p:txBody>
          <a:bodyPr/>
          <a:lstStyle/>
          <a:p>
            <a:r>
              <a:rPr lang="en-US" dirty="0"/>
              <a:t>The pie chart shows the percentage distribution of agricultural records across Kharif, Rabi and Zaid seasons.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86734-C68F-2AEB-5D3C-9C1BBB4DD799}"/>
              </a:ext>
            </a:extLst>
          </p:cNvPr>
          <p:cNvSpPr/>
          <p:nvPr/>
        </p:nvSpPr>
        <p:spPr>
          <a:xfrm>
            <a:off x="770561" y="1458930"/>
            <a:ext cx="10048235" cy="37335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36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396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</a:t>
            </a:r>
            <a:r>
              <a:rPr lang="en-US" dirty="0"/>
              <a:t>SEASONAL PERFORMANCE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F9F31-01E9-298F-926E-B66BE3E5F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5094514"/>
            <a:ext cx="8206014" cy="1126672"/>
          </a:xfrm>
        </p:spPr>
        <p:txBody>
          <a:bodyPr/>
          <a:lstStyle/>
          <a:p>
            <a:r>
              <a:rPr lang="en-US" dirty="0"/>
              <a:t>The bar chart compares average agricultural yield across Kharif, Rabi and Zaid seasons.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4C2B36-9595-46B0-BAA1-0DE6354C30B4}"/>
              </a:ext>
            </a:extLst>
          </p:cNvPr>
          <p:cNvSpPr/>
          <p:nvPr/>
        </p:nvSpPr>
        <p:spPr>
          <a:xfrm>
            <a:off x="1028188" y="1275371"/>
            <a:ext cx="9487411" cy="35943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72300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Environmental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AAA70-524A-75ED-94D5-423B640A98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399070"/>
            <a:ext cx="8026401" cy="1072850"/>
          </a:xfrm>
        </p:spPr>
        <p:txBody>
          <a:bodyPr>
            <a:normAutofit/>
          </a:bodyPr>
          <a:lstStyle/>
          <a:p>
            <a:r>
              <a:rPr lang="en-US" dirty="0"/>
              <a:t>The scatter plot shows the relationship between rainfall and agricultural yield across seasons.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72C0E7-7E93-9F01-411F-80B45D7E284D}"/>
              </a:ext>
            </a:extLst>
          </p:cNvPr>
          <p:cNvSpPr/>
          <p:nvPr/>
        </p:nvSpPr>
        <p:spPr>
          <a:xfrm>
            <a:off x="770560" y="1468555"/>
            <a:ext cx="10799005" cy="345762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89D1-E124-B5C7-7C1D-236F7518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42BE30-57AB-2539-56B0-25260D6189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7152361-41D1-2EB7-6BE7-330E64A2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72300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Crop Performance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210DCA-9AD4-9DBD-3C7D-2399BEEDAEB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0BCF8C1-7F6A-C868-68CD-61A1A0C4E2E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FD70D-30E9-2FE9-1F14-A7009FA63C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208814"/>
            <a:ext cx="8026401" cy="1263106"/>
          </a:xfrm>
        </p:spPr>
        <p:txBody>
          <a:bodyPr/>
          <a:lstStyle/>
          <a:p>
            <a:r>
              <a:rPr lang="en-US" dirty="0"/>
              <a:t>The bar chart compares crop-wise yield across seasons and highlights differences in crop performance.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EE2BF5-C76B-B3BA-0CAA-A72524F3405E}"/>
              </a:ext>
            </a:extLst>
          </p:cNvPr>
          <p:cNvSpPr/>
          <p:nvPr/>
        </p:nvSpPr>
        <p:spPr>
          <a:xfrm>
            <a:off x="1049154" y="1353052"/>
            <a:ext cx="8893743" cy="332534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erformance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35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4D9C-FFB3-F3D0-142A-B97A7BBAD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11D4DE-1236-C46B-805A-F441420008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5020142-896D-08EA-8AF4-7D6E60998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72300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Crop Distribution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E9DDBEF-B23E-C93C-EC30-161F2527517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75B4126-6F6B-0260-34E5-AA1EA5B6030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8FC4D-5B15-80F4-E4EE-8F7B646BB8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821331"/>
            <a:ext cx="8026401" cy="666079"/>
          </a:xfrm>
        </p:spPr>
        <p:txBody>
          <a:bodyPr>
            <a:normAutofit lnSpcReduction="10000"/>
          </a:bodyPr>
          <a:lstStyle/>
          <a:p>
            <a:r>
              <a:rPr lang="en-US"/>
              <a:t>The pie chart shows the percentage distribution of different crops in the agricultural dataset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7B526-0BCF-3EA0-CF36-1EBFAAA6ABAD}"/>
              </a:ext>
            </a:extLst>
          </p:cNvPr>
          <p:cNvSpPr/>
          <p:nvPr/>
        </p:nvSpPr>
        <p:spPr>
          <a:xfrm>
            <a:off x="770561" y="1458929"/>
            <a:ext cx="9586222" cy="384459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67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8ABCB-6A8B-AB3B-DE3D-182CC565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C290B3-1215-774E-CC4F-8AE93DA610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49247BB-9D8B-200E-31FD-E035C51B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1129600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</a:t>
            </a:r>
            <a:r>
              <a:rPr lang="en-US" dirty="0"/>
              <a:t>Resource &amp; Economic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40A1D62-E8C7-7E4C-3F2B-77B4EAE62D2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1B9A8A8-4709-687F-4E01-7CA731C5ABC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A8128-A4CE-2424-EE92-4151CDD699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389767"/>
            <a:ext cx="8026401" cy="1097644"/>
          </a:xfrm>
        </p:spPr>
        <p:txBody>
          <a:bodyPr>
            <a:normAutofit/>
          </a:bodyPr>
          <a:lstStyle/>
          <a:p>
            <a:r>
              <a:rPr lang="en-US" dirty="0"/>
              <a:t>The bar chart compares average water consumption across different agricultural seasons.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B8CA6C-FB95-398A-CC59-EBA79370A99D}"/>
              </a:ext>
            </a:extLst>
          </p:cNvPr>
          <p:cNvSpPr/>
          <p:nvPr/>
        </p:nvSpPr>
        <p:spPr>
          <a:xfrm>
            <a:off x="770562" y="1458930"/>
            <a:ext cx="10442870" cy="3619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0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985D1-BD35-5B12-12D8-E281343E6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3EAAEF-A07E-E7C9-46AD-FF1E2844B7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025BB1B-1B41-DFB1-DA3A-6E9AC9F21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983" y="360964"/>
            <a:ext cx="11337617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</a:t>
            </a:r>
            <a:r>
              <a:rPr lang="en-US" dirty="0"/>
              <a:t>RESOURCE &amp; ECONOMIC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B3BF90F-C7AC-CC38-A9FD-A0883EACF6F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F81083C-951D-B797-1FC1-05FC6EB3065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5932E-6DE6-ED6A-1FA3-6B99154B28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389767"/>
            <a:ext cx="8026401" cy="1097644"/>
          </a:xfrm>
        </p:spPr>
        <p:txBody>
          <a:bodyPr>
            <a:normAutofit/>
          </a:bodyPr>
          <a:lstStyle/>
          <a:p>
            <a:r>
              <a:rPr lang="en-US" dirty="0"/>
              <a:t>This is actually </a:t>
            </a:r>
            <a:r>
              <a:rPr lang="en-US" b="1" dirty="0"/>
              <a:t>better than putting only one graph</a:t>
            </a:r>
            <a:r>
              <a:rPr lang="en-US" dirty="0"/>
              <a:t> because the slide demonstrates both </a:t>
            </a:r>
            <a:r>
              <a:rPr lang="en-US" b="1" dirty="0"/>
              <a:t>resource usage + economic performance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77169-E8FD-1FD6-206E-DAD2875FCC0D}"/>
              </a:ext>
            </a:extLst>
          </p:cNvPr>
          <p:cNvSpPr/>
          <p:nvPr/>
        </p:nvSpPr>
        <p:spPr>
          <a:xfrm>
            <a:off x="770561" y="1458930"/>
            <a:ext cx="10365868" cy="3619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6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97D7-E04C-E3C6-3085-359DEE40A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2E913F-8926-77A4-1FE7-C5D779692D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B56F0A-66EB-7814-A8AE-E434D7DAF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72300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Water Usage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69D1AD2-25D6-13AA-7E69-DACE2C9193DA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B808C26-F9F7-E2C4-B954-E4F8FDBEBE3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0F070-380C-B000-B3AD-1113F1267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389767"/>
            <a:ext cx="8434615" cy="109764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histogram shows the distribution and frequency of water usage across agricultural farms.</a:t>
            </a:r>
          </a:p>
          <a:p>
            <a:pPr marL="0" indent="0">
              <a:buNone/>
            </a:pPr>
            <a:r>
              <a:rPr lang="en-US" b="1" dirty="0"/>
              <a:t>         What bins=10 means</a:t>
            </a:r>
          </a:p>
          <a:p>
            <a:r>
              <a:rPr lang="en-US" b="1" dirty="0"/>
              <a:t>The water-usage values are divided into 10 intervals (bins) to show how frequently different water-usage ranges occur.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B148E7-B2BB-ADAE-230E-CADA2AB774DF}"/>
              </a:ext>
            </a:extLst>
          </p:cNvPr>
          <p:cNvSpPr/>
          <p:nvPr/>
        </p:nvSpPr>
        <p:spPr>
          <a:xfrm>
            <a:off x="770561" y="1449305"/>
            <a:ext cx="10192614" cy="3619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2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FCA84-A2E3-1AA2-B254-99968DF6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1D081F-104A-0131-AC1C-6359E7FB21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1E02860-2BE6-3F35-5208-3E497CD7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72300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</a:t>
            </a:r>
            <a:r>
              <a:rPr lang="en-US" dirty="0"/>
              <a:t>State-wise Seasonal Yield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D21685C-6FC9-1D97-8214-07AAB23A62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8134A23-CABB-D292-61B6-63372745F3D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FDA8C-4FA2-A443-463A-1291DFA2FA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389767"/>
            <a:ext cx="8026401" cy="1097644"/>
          </a:xfrm>
        </p:spPr>
        <p:txBody>
          <a:bodyPr>
            <a:normAutofit/>
          </a:bodyPr>
          <a:lstStyle/>
          <a:p>
            <a:r>
              <a:rPr lang="en-US" dirty="0"/>
              <a:t>The bar chart compares yield across different states and seasons to identify regional and seasonal differences in agricultural performance.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D5CC1-99F3-C569-2093-A578EBDDFB0E}"/>
              </a:ext>
            </a:extLst>
          </p:cNvPr>
          <p:cNvSpPr/>
          <p:nvPr/>
        </p:nvSpPr>
        <p:spPr>
          <a:xfrm>
            <a:off x="770561" y="1458930"/>
            <a:ext cx="9320496" cy="3619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9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08F9-599F-CC75-1372-46D74AAE4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6FAF19-B085-C54C-88A1-0136DBB047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17EEFDB-B8F8-A362-2886-C775BA6C0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370589"/>
            <a:ext cx="115160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</a:t>
            </a:r>
            <a:r>
              <a:rPr lang="en-US" dirty="0"/>
              <a:t>Yield Variation &amp; Outlier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2CD26B9-6788-267C-4C3A-BF6D9859CE4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17C4930-711A-8B36-2CDB-5F0AA7E0F0E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D5098-E61A-42AB-3ED6-EBCB9DEDA5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406096"/>
            <a:ext cx="8418287" cy="1097644"/>
          </a:xfrm>
        </p:spPr>
        <p:txBody>
          <a:bodyPr>
            <a:normAutofit/>
          </a:bodyPr>
          <a:lstStyle/>
          <a:p>
            <a:r>
              <a:rPr lang="en-US" dirty="0"/>
              <a:t>The box plot compares yield variation across seasons and identifies unusually high or low yield values (outliers).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CA45E6-1A09-4B9B-521F-9D32CB523221}"/>
              </a:ext>
            </a:extLst>
          </p:cNvPr>
          <p:cNvSpPr/>
          <p:nvPr/>
        </p:nvSpPr>
        <p:spPr>
          <a:xfrm>
            <a:off x="770560" y="1458930"/>
            <a:ext cx="10839237" cy="3619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8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9F62E-0C28-E5DE-A4DC-CD7AB87A5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96AB7C-FE98-7AFD-0659-A03A974B37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BD49BB7-6B9D-C130-7144-FF2C2E8DD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872300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Correlation Heatmap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3237AB3-A0CC-165C-1117-F7D3D532BB9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1006ED3-03B0-6F9C-47DE-7C2F2115561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D2215-63ED-7023-1140-EA9EE36A42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5399071"/>
            <a:ext cx="8026401" cy="1072849"/>
          </a:xfrm>
        </p:spPr>
        <p:txBody>
          <a:bodyPr/>
          <a:lstStyle/>
          <a:p>
            <a:r>
              <a:rPr lang="en-US" dirty="0"/>
              <a:t>The correlation heatmap shows the strength and direction of relationships between environmental, resource, production and economic variables.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00F47-2011-9936-396C-1C70655DCB41}"/>
              </a:ext>
            </a:extLst>
          </p:cNvPr>
          <p:cNvSpPr/>
          <p:nvPr/>
        </p:nvSpPr>
        <p:spPr>
          <a:xfrm>
            <a:off x="770561" y="1458929"/>
            <a:ext cx="9189867" cy="366824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2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345829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Yield Outlier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5732056"/>
            <a:ext cx="7216953" cy="932904"/>
          </a:xfrm>
        </p:spPr>
        <p:txBody>
          <a:bodyPr>
            <a:normAutofit/>
          </a:bodyPr>
          <a:lstStyle/>
          <a:p>
            <a:r>
              <a:rPr lang="en-US" dirty="0"/>
              <a:t>The box plot shows the distribution of agricultural yield and identifies unusually high or low yield values (outliers).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3ECBAE-9397-ECE4-AD12-43780F796896}"/>
              </a:ext>
            </a:extLst>
          </p:cNvPr>
          <p:cNvSpPr/>
          <p:nvPr/>
        </p:nvSpPr>
        <p:spPr>
          <a:xfrm>
            <a:off x="825357" y="1668781"/>
            <a:ext cx="9902514" cy="33234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24E8D-7910-60DD-2A4C-94506011B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A0DEE2-53A5-7939-5FA1-AD3CD3A41C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C35B014-31EC-DF44-2A75-ACA4FFFF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656072" cy="830997"/>
          </a:xfrm>
        </p:spPr>
        <p:txBody>
          <a:bodyPr>
            <a:normAutofit/>
          </a:bodyPr>
          <a:lstStyle/>
          <a:p>
            <a:r>
              <a:rPr lang="en-GB" dirty="0"/>
              <a:t>RESULTS -</a:t>
            </a:r>
            <a:r>
              <a:rPr lang="en-US" dirty="0"/>
              <a:t>Profit Outlier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E9EA345-C5C9-0591-6280-FC7FCCD5563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54CD3D8-B4F2-D385-5A15-53FB9B7880D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F9CA871-D4A5-6592-266D-DC3012B2B0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5732056"/>
            <a:ext cx="7216953" cy="9329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box plot shows profit variation and identifies unusually high or low profit values in the agricultural dataset.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66F669-187C-AA26-DDD7-A9291FD73255}"/>
              </a:ext>
            </a:extLst>
          </p:cNvPr>
          <p:cNvSpPr/>
          <p:nvPr/>
        </p:nvSpPr>
        <p:spPr>
          <a:xfrm>
            <a:off x="825356" y="1668781"/>
            <a:ext cx="9853529" cy="33234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36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8FA99-FFCC-3A55-8D2D-68E55894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0D1C53-940C-0C5C-2CE1-F2EB07618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80B7F4B-A037-56AC-4E38-8E400A18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97253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 -</a:t>
            </a:r>
            <a:r>
              <a:rPr lang="en-US" dirty="0"/>
              <a:t>Rainfall Outlier Analysis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1E1A3811-840F-AAB2-3D4A-5EAF234E2D7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F6C2F18-9C82-4DCE-564D-55AC91288677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2F01496-9EF5-E8EA-4131-874883A7D2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5732056"/>
            <a:ext cx="7216953" cy="932904"/>
          </a:xfrm>
        </p:spPr>
        <p:txBody>
          <a:bodyPr>
            <a:normAutofit/>
          </a:bodyPr>
          <a:lstStyle/>
          <a:p>
            <a:r>
              <a:rPr lang="en-US" dirty="0"/>
              <a:t>The box plot shows rainfall variation and helps identify unusually high or low rainfall observations.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498F8A-339A-1E99-3390-03E00DA740FB}"/>
              </a:ext>
            </a:extLst>
          </p:cNvPr>
          <p:cNvSpPr/>
          <p:nvPr/>
        </p:nvSpPr>
        <p:spPr>
          <a:xfrm>
            <a:off x="825356" y="1685110"/>
            <a:ext cx="9725343" cy="33234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038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EC9FA-5DF5-8CA8-B000-59CB6C79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925A58-6DBE-7CCC-907E-A117F9099F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87B84E7-B8FD-CFFE-8AAC-63F8E2BE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868343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RESULTS-</a:t>
            </a:r>
            <a:r>
              <a:rPr lang="en-US" dirty="0"/>
              <a:t>Water Usage Outlier Analysis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7CD7B47-EF5B-94ED-332B-D328216A6BA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DDC55C7A-2300-87F9-14C2-4C754ED0B87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C7647E8A-166C-E703-79C6-C0C086F55C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5732056"/>
            <a:ext cx="7216953" cy="9329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box plot shows the variation in agricultural water usage and helps identify unusually high or low water-use observations.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2C1C08-1FB5-92D3-CD83-8FB7DA97DC68}"/>
              </a:ext>
            </a:extLst>
          </p:cNvPr>
          <p:cNvSpPr/>
          <p:nvPr/>
        </p:nvSpPr>
        <p:spPr>
          <a:xfrm>
            <a:off x="825357" y="1685110"/>
            <a:ext cx="10571986" cy="33234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4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82B78-AD98-2233-BFF2-2834081E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A28C3B-C34A-7FCC-E931-A191504122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9F25116-0EC1-F346-6BF4-BFBC9D79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10998972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RESULTS-</a:t>
            </a:r>
            <a:r>
              <a:rPr lang="en-US" dirty="0"/>
              <a:t>Yield After Removing Outliers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625ECF3-2F25-2A4A-B096-9CACA95DFEA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6510134-31D0-1FC3-6878-6EC7E896E2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7EF6ED07-7CDE-98D5-72CE-12D2BE6B04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3" y="5732056"/>
            <a:ext cx="7216953" cy="9329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box plot compares yield distribution across seasons after removing outliers, providing a clearer view of seasonal performance.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E6846F-2E92-0815-330E-F2AB077C464C}"/>
              </a:ext>
            </a:extLst>
          </p:cNvPr>
          <p:cNvSpPr/>
          <p:nvPr/>
        </p:nvSpPr>
        <p:spPr>
          <a:xfrm>
            <a:off x="825356" y="1668781"/>
            <a:ext cx="10327057" cy="332341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05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535508"/>
            <a:ext cx="8876257" cy="1064692"/>
          </a:xfrm>
        </p:spPr>
        <p:txBody>
          <a:bodyPr>
            <a:normAutofit/>
          </a:bodyPr>
          <a:lstStyle/>
          <a:p>
            <a:r>
              <a:rPr lang="en-US" sz="4000" dirty="0"/>
              <a:t>Project Outcomes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0FFC68-D821-DE55-163A-580DC4873FBA}"/>
              </a:ext>
            </a:extLst>
          </p:cNvPr>
          <p:cNvSpPr txBox="1"/>
          <p:nvPr/>
        </p:nvSpPr>
        <p:spPr>
          <a:xfrm>
            <a:off x="675956" y="2122714"/>
            <a:ext cx="9228332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Successfully analyzed agricultural data across different seasons.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Compared yield, production and profit across seasons.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Identified seasonal variations in rainfall, temperature and soil moisture.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Analyzed water and fertilizer usage.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Studied relationships between environmental conditions and yield.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Identified potential outliers using box plots and IQR analysis.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Generated data-driven insights for seasonal agricultural planning.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68B41-7290-AA0C-0E6F-8552D0B9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D1BC9B-D43B-4372-0410-D9FAF24F98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558E271-E5F7-AECB-736A-EA470789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719573"/>
            <a:ext cx="5300300" cy="913284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06D6A53-399C-DBF2-256C-F4932789938D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8006589" cy="4782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1ED6D38-15AC-C30F-199F-41055CA4556E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7C05BB-07F8-2FD2-92AB-94C33DA31ECC}"/>
              </a:ext>
            </a:extLst>
          </p:cNvPr>
          <p:cNvSpPr txBox="1"/>
          <p:nvPr/>
        </p:nvSpPr>
        <p:spPr>
          <a:xfrm>
            <a:off x="800100" y="1941449"/>
            <a:ext cx="9372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Develop a machine-learning model to predict crop yield.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Predict agricultural profit based on seasonal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Recommend suitable crops for different seasons and regions.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Build a dashboard for real-time agricultural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Integrate weather and rainfall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Improve irrigation and fertilizer recommendations.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 larger datasets for more accurate predictions.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2668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38565-049D-24D4-23F2-1D5A2B35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BE2C72-A61C-AD56-28B6-F14585657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F3FDC74-A4D6-51B4-6F79-DA341223F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5186000" cy="830997"/>
          </a:xfrm>
        </p:spPr>
        <p:txBody>
          <a:bodyPr>
            <a:normAutofit/>
          </a:bodyPr>
          <a:lstStyle/>
          <a:p>
            <a:r>
              <a:rPr lang="en-US" sz="4000" dirty="0"/>
              <a:t>Conclusion</a:t>
            </a:r>
            <a:endParaRPr lang="en-IN" sz="40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80D440-1AF4-D2EC-DF03-2CB0EAE290A4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8006589" cy="4782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433B092-F839-97C4-F9CB-50525718B73D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3A698D-2513-AFA5-F929-E06D4B8427E9}"/>
              </a:ext>
            </a:extLst>
          </p:cNvPr>
          <p:cNvSpPr txBox="1"/>
          <p:nvPr/>
        </p:nvSpPr>
        <p:spPr>
          <a:xfrm>
            <a:off x="800099" y="1941450"/>
            <a:ext cx="8801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Seasonal factors have a significant role in agricultural performance.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analysis revealed differences in yield, production and profit across seasons.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Environmental conditions and resource usage were compared using data visualization.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Univariate, bivariate and multivariate analysis helped identify important patterns.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Outlier analysis helped detect unusual observations</a:t>
            </a:r>
            <a:r>
              <a:rPr lang="en-US" dirty="0"/>
              <a:t>. </a:t>
            </a: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The findings can support better </a:t>
            </a:r>
            <a:r>
              <a:rPr lang="en-US" sz="2400" b="1" dirty="0"/>
              <a:t>seasonal planning, resource management and agricultural decision-making</a:t>
            </a:r>
            <a:r>
              <a:rPr lang="en-US" sz="2400" dirty="0"/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7989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8165472" cy="1344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6A8C4-BFE4-765D-48D4-EF2A679427C5}"/>
              </a:ext>
            </a:extLst>
          </p:cNvPr>
          <p:cNvSpPr txBox="1"/>
          <p:nvPr/>
        </p:nvSpPr>
        <p:spPr>
          <a:xfrm>
            <a:off x="760396" y="2942924"/>
            <a:ext cx="9230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https://github.com/vvssujeevan234/-Seasonal_Agriculture_Analysis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932F42-F597-2230-7143-35A08E3CCBB6}"/>
              </a:ext>
            </a:extLst>
          </p:cNvPr>
          <p:cNvSpPr/>
          <p:nvPr/>
        </p:nvSpPr>
        <p:spPr>
          <a:xfrm>
            <a:off x="675956" y="1520792"/>
            <a:ext cx="10691480" cy="4822256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693</TotalTime>
  <Words>875</Words>
  <Application>Microsoft Office PowerPoint</Application>
  <PresentationFormat>Widescreen</PresentationFormat>
  <Paragraphs>111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</vt:lpstr>
      <vt:lpstr>PROBLEM  STATEMENT</vt:lpstr>
      <vt:lpstr>Project Description  </vt:lpstr>
      <vt:lpstr>WHO ARE THE END USERS?</vt:lpstr>
      <vt:lpstr>Technology Used</vt:lpstr>
      <vt:lpstr>RESULTS -Irrigation Method Distribution</vt:lpstr>
      <vt:lpstr>RESULTS -Season Distribution</vt:lpstr>
      <vt:lpstr>RESULTS -SEASONAL PERFORMANCE </vt:lpstr>
      <vt:lpstr>RESULTS -Environmental Analysis</vt:lpstr>
      <vt:lpstr>RESULTS -Crop Performance</vt:lpstr>
      <vt:lpstr>RESULTS -Crop Distribution</vt:lpstr>
      <vt:lpstr>RESULTS -Resource &amp; Economic Analysis</vt:lpstr>
      <vt:lpstr>RESULTS -RESOURCE &amp; ECONOMIC ANALYSIS</vt:lpstr>
      <vt:lpstr>RESULTS -Water Usage Analysis</vt:lpstr>
      <vt:lpstr>RESULTS -State-wise Seasonal Yield</vt:lpstr>
      <vt:lpstr>RESULTS -Yield Variation &amp; Outlier Analysis</vt:lpstr>
      <vt:lpstr>RESULTS -Correlation Heatmap</vt:lpstr>
      <vt:lpstr>RESULTS -Yield Outlier Analysis</vt:lpstr>
      <vt:lpstr>RESULTS -Profit Outlier Analysis</vt:lpstr>
      <vt:lpstr>RESULTS -Rainfall Outlier Analysis</vt:lpstr>
      <vt:lpstr>RESULTS-Water Usage Outlier Analysis </vt:lpstr>
      <vt:lpstr>RESULTS-Yield After Removing Outliers </vt:lpstr>
      <vt:lpstr>Project Outcomes</vt:lpstr>
      <vt:lpstr>Future scope</vt:lpstr>
      <vt:lpstr>Conclusion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VVS Sujeevan</cp:lastModifiedBy>
  <cp:revision>101</cp:revision>
  <dcterms:created xsi:type="dcterms:W3CDTF">2021-07-11T13:13:15Z</dcterms:created>
  <dcterms:modified xsi:type="dcterms:W3CDTF">2026-09-07T15:16:25Z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